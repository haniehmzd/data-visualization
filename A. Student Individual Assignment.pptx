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1"/>
  </p:notesMasterIdLst>
  <p:sldIdLst>
    <p:sldId id="258" r:id="rId2"/>
    <p:sldId id="263" r:id="rId3"/>
    <p:sldId id="264" r:id="rId4"/>
    <p:sldId id="265" r:id="rId5"/>
    <p:sldId id="266" r:id="rId6"/>
    <p:sldId id="268" r:id="rId7"/>
    <p:sldId id="273" r:id="rId8"/>
    <p:sldId id="274" r:id="rId9"/>
    <p:sldId id="271" r:id="rId10"/>
  </p:sldIdLst>
  <p:sldSz cx="9144000" cy="5143500" type="screen16x9"/>
  <p:notesSz cx="6858000" cy="9144000"/>
  <p:embeddedFontLst>
    <p:embeddedFont>
      <p:font typeface="Lekton" panose="02000506030000020003" pitchFamily="2" charset="0"/>
      <p:regular r:id="rId12"/>
      <p:bold r:id="rId13"/>
      <p:italic r:id="rId14"/>
    </p:embeddedFont>
    <p:embeddedFont>
      <p:font typeface="LEKTON04-THIN" panose="02000506030000020003" pitchFamily="2" charset="0"/>
      <p:regular r:id="rId15"/>
    </p:embeddedFont>
    <p:embeddedFont>
      <p:font typeface="Titillium Web" pitchFamily="2" charset="77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86">
          <p15:clr>
            <a:srgbClr val="A4A3A4"/>
          </p15:clr>
        </p15:guide>
        <p15:guide id="2" pos="2098">
          <p15:clr>
            <a:srgbClr val="A4A3A4"/>
          </p15:clr>
        </p15:guide>
        <p15:guide id="3" pos="2324">
          <p15:clr>
            <a:srgbClr val="A4A3A4"/>
          </p15:clr>
        </p15:guide>
        <p15:guide id="4" pos="340">
          <p15:clr>
            <a:srgbClr val="A4A3A4"/>
          </p15:clr>
        </p15:guide>
        <p15:guide id="5" pos="2977">
          <p15:clr>
            <a:srgbClr val="A4A3A4"/>
          </p15:clr>
        </p15:guide>
        <p15:guide id="6" orient="horz" pos="737">
          <p15:clr>
            <a:srgbClr val="A4A3A4"/>
          </p15:clr>
        </p15:guide>
        <p15:guide id="7" orient="horz" pos="3005">
          <p15:clr>
            <a:srgbClr val="A4A3A4"/>
          </p15:clr>
        </p15:guide>
        <p15:guide id="8" orient="horz" pos="1757">
          <p15:clr>
            <a:srgbClr val="A4A3A4"/>
          </p15:clr>
        </p15:guide>
        <p15:guide id="9" orient="horz" pos="542">
          <p15:clr>
            <a:srgbClr val="A4A3A4"/>
          </p15:clr>
        </p15:guide>
        <p15:guide id="10" orient="horz" pos="10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55"/>
    <p:restoredTop sz="94645"/>
  </p:normalViewPr>
  <p:slideViewPr>
    <p:cSldViewPr snapToGrid="0">
      <p:cViewPr varScale="1">
        <p:scale>
          <a:sx n="89" d="100"/>
          <a:sy n="89" d="100"/>
        </p:scale>
        <p:origin x="168" y="1176"/>
      </p:cViewPr>
      <p:guideLst>
        <p:guide pos="5386"/>
        <p:guide pos="2098"/>
        <p:guide pos="2324"/>
        <p:guide pos="340"/>
        <p:guide pos="2977"/>
        <p:guide orient="horz" pos="737"/>
        <p:guide orient="horz" pos="3005"/>
        <p:guide orient="horz" pos="1757"/>
        <p:guide orient="horz" pos="542"/>
        <p:guide orient="horz" pos="10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371192460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371192460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2f6af15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a2f6af15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408aeda40d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408aeda40d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408aeda40d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408aeda40d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408aeda40d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408aeda40d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71748b72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a71748b72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l titolo 1">
  <p:cSld name="TITL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Font typeface="Lekton"/>
              <a:buNone/>
              <a:defRPr sz="4200" b="1">
                <a:latin typeface="Lekton"/>
                <a:ea typeface="Lekton"/>
                <a:cs typeface="Lekton"/>
                <a:sym typeface="Lekton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67500" y="3427050"/>
            <a:ext cx="7557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/>
          <p:nvPr/>
        </p:nvSpPr>
        <p:spPr>
          <a:xfrm>
            <a:off x="726825" y="257900"/>
            <a:ext cx="6957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1578700"/>
            <a:ext cx="8520300" cy="141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Lekton"/>
              <a:buNone/>
              <a:defRPr sz="3000" b="1"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250825" y="3032375"/>
            <a:ext cx="42984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333333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della sezione 1">
  <p:cSld name="SECTION_HEADER_1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461300" y="1594350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2"/>
          </p:nvPr>
        </p:nvSpPr>
        <p:spPr>
          <a:xfrm>
            <a:off x="461250" y="3253963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4439150" y="100"/>
            <a:ext cx="4704900" cy="51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837675" y="1656850"/>
            <a:ext cx="3288900" cy="291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3117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body" idx="2"/>
          </p:nvPr>
        </p:nvSpPr>
        <p:spPr>
          <a:xfrm>
            <a:off x="48324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">
  <p:cSld name="SECTION_TITLE_AND_DESCRIPTION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D66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">
  <p:cSld name="SECTION_TITLE_AND_DESCRIPTION_1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pic>
        <p:nvPicPr>
          <p:cNvPr id="39" name="Google Shape;3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1175" y="-96750"/>
            <a:ext cx="9386000" cy="5293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">
  <p:cSld name="SECTION_TITLE_AND_DESCRIPTION_1_1_1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10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" name="Google Shape;45;p10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3333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2">
  <p:cSld name="SECTION_TITLE_AND_DESCRIPTION_1_1_1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52250"/>
            <a:ext cx="9338651" cy="5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1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11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1">
  <p:cSld name="CUSTOM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Google Shape;55;p12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" name="Google Shape;56;p12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C678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">
  <p:cSld name="SECTION_TITLE_AND_DESCRIPTION_1_1_1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0075"/>
            <a:ext cx="9354474" cy="527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63" name="Google Shape;63;p13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2">
  <p:cSld name="CUSTOM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4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8F44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">
  <p:cSld name="SECTION_TITLE_AND_DESCRIPTION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075" y="-87875"/>
            <a:ext cx="9370249" cy="52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74" name="Google Shape;74;p15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3">
  <p:cSld name="CUSTOM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oogle Shape;77;p16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6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22E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 1">
  <p:cSld name="SECTION_TITLE_AND_DESCRIPTION_1_1_1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8950"/>
            <a:ext cx="9417551" cy="53114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85" name="Google Shape;85;p17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" name="Google Shape;86;p17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65814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None/>
              <a:defRPr b="1">
                <a:latin typeface="Lekton"/>
                <a:ea typeface="Lekton"/>
                <a:cs typeface="Lekton"/>
                <a:sym typeface="Lekton"/>
              </a:defRPr>
            </a:lvl1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66B55"/>
              </a:buClr>
              <a:buSzPts val="20000"/>
              <a:buFont typeface="Lekton"/>
              <a:buNone/>
              <a:defRPr sz="20000" b="1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1"/>
          </p:nvPr>
        </p:nvSpPr>
        <p:spPr>
          <a:xfrm>
            <a:off x="2430575" y="2993300"/>
            <a:ext cx="42048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2"/>
          </p:nvPr>
        </p:nvSpPr>
        <p:spPr>
          <a:xfrm>
            <a:off x="2430575" y="3477850"/>
            <a:ext cx="4204800" cy="118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39D1D5-B382-53C7-9B3E-CE2871CBCA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228" t="4575" r="13290" b="6253"/>
          <a:stretch/>
        </p:blipFill>
        <p:spPr>
          <a:xfrm>
            <a:off x="-1" y="1427650"/>
            <a:ext cx="4576683" cy="2893141"/>
          </a:xfrm>
          <a:prstGeom prst="rect">
            <a:avLst/>
          </a:prstGeom>
        </p:spPr>
      </p:pic>
      <p:sp>
        <p:nvSpPr>
          <p:cNvPr id="115" name="Google Shape;115;p23"/>
          <p:cNvSpPr txBox="1"/>
          <p:nvPr/>
        </p:nvSpPr>
        <p:spPr>
          <a:xfrm>
            <a:off x="1277000" y="700450"/>
            <a:ext cx="2128500" cy="1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ctrTitle"/>
          </p:nvPr>
        </p:nvSpPr>
        <p:spPr>
          <a:xfrm>
            <a:off x="-12900" y="207900"/>
            <a:ext cx="4584900" cy="81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/>
              <a:t>Data Visualization Pitch</a:t>
            </a:r>
            <a:endParaRPr sz="18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it" sz="1400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 Individual Assignment</a:t>
            </a:r>
            <a:endParaRPr sz="1800" dirty="0"/>
          </a:p>
        </p:txBody>
      </p:sp>
      <p:sp>
        <p:nvSpPr>
          <p:cNvPr id="117" name="Google Shape;117;p23"/>
          <p:cNvSpPr txBox="1"/>
          <p:nvPr/>
        </p:nvSpPr>
        <p:spPr>
          <a:xfrm>
            <a:off x="4572000" y="3367667"/>
            <a:ext cx="45849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b="1" dirty="0">
                <a:latin typeface="Titillium Web"/>
                <a:ea typeface="Titillium Web"/>
                <a:cs typeface="Titillium Web"/>
                <a:sym typeface="Titillium Web"/>
              </a:rPr>
              <a:t>Student name: </a:t>
            </a:r>
            <a:r>
              <a:rPr lang="en-US" b="1" dirty="0" err="1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Hanieh</a:t>
            </a:r>
            <a:r>
              <a:rPr lang="en-US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 </a:t>
            </a:r>
            <a:r>
              <a:rPr lang="en-US" b="1" dirty="0" err="1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Mirzad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ID: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923891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e-mail address: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h.mirzad@campus.unimib.it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118" name="Google Shape;118;p23"/>
          <p:cNvCxnSpPr/>
          <p:nvPr/>
        </p:nvCxnSpPr>
        <p:spPr>
          <a:xfrm>
            <a:off x="4572000" y="0"/>
            <a:ext cx="0" cy="51345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" name="Google Shape;119;p23"/>
          <p:cNvSpPr txBox="1"/>
          <p:nvPr/>
        </p:nvSpPr>
        <p:spPr>
          <a:xfrm>
            <a:off x="4572000" y="438596"/>
            <a:ext cx="4584900" cy="24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LEKTON04-THIN" panose="02000506030000020003" pitchFamily="2" charset="0"/>
              </a:rPr>
              <a:t>The Cost of Progress</a:t>
            </a:r>
            <a:br>
              <a:rPr lang="en-US" sz="2400" dirty="0">
                <a:latin typeface="LEKTON04-THIN" panose="02000506030000020003" pitchFamily="2" charset="0"/>
              </a:rPr>
            </a:br>
            <a:r>
              <a:rPr lang="en-US" sz="2000" i="1" dirty="0">
                <a:latin typeface="LEKTON04-THIN" panose="02000506030000020003" pitchFamily="2" charset="0"/>
              </a:rPr>
              <a:t>A Trend Analysis of Wealth, Health, and Environment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i="1" dirty="0">
                <a:latin typeface="LEKTON04-THIN" panose="02000506030000020003" pitchFamily="2" charset="0"/>
              </a:rPr>
              <a:t>(1960–2020)</a:t>
            </a:r>
            <a:endParaRPr sz="1800" b="1" dirty="0">
              <a:solidFill>
                <a:srgbClr val="000000"/>
              </a:solidFill>
              <a:latin typeface="LEKTON04-THIN" panose="02000506030000020003" pitchFamily="2" charset="0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8"/>
          <p:cNvSpPr txBox="1"/>
          <p:nvPr/>
        </p:nvSpPr>
        <p:spPr>
          <a:xfrm>
            <a:off x="567000" y="769735"/>
            <a:ext cx="80100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Research questions</a:t>
            </a: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  <a:p>
            <a:r>
              <a:rPr lang="en-US" b="1" dirty="0">
                <a:latin typeface="LEKTON04-THIN" panose="02000506030000020003" pitchFamily="2" charset="0"/>
              </a:rPr>
              <a:t>Primary Research Question</a:t>
            </a:r>
            <a:endParaRPr lang="en-US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-How is economic growth related to quality of life and environmental impact across countries?</a:t>
            </a:r>
          </a:p>
          <a:p>
            <a:endParaRPr lang="en-US" dirty="0">
              <a:latin typeface="LEKTON04-THIN" panose="02000506030000020003" pitchFamily="2" charset="0"/>
            </a:endParaRPr>
          </a:p>
          <a:p>
            <a:r>
              <a:rPr lang="en-US" b="1" dirty="0">
                <a:latin typeface="LEKTON04-THIN" panose="02000506030000020003" pitchFamily="2" charset="0"/>
              </a:rPr>
              <a:t>Secondary Research Questions</a:t>
            </a:r>
            <a:endParaRPr lang="en-US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- Is higher GDP per capita associated with higher life expectancy?</a:t>
            </a:r>
          </a:p>
          <a:p>
            <a:r>
              <a:rPr lang="en-US" dirty="0">
                <a:latin typeface="LEKTON04-THIN" panose="02000506030000020003" pitchFamily="2" charset="0"/>
              </a:rPr>
              <a:t>- Does economic development lead to higher CO₂ emissions?</a:t>
            </a:r>
          </a:p>
          <a:p>
            <a:r>
              <a:rPr lang="en-US" dirty="0">
                <a:latin typeface="LEKTON04-THIN" panose="02000506030000020003" pitchFamily="2" charset="0"/>
              </a:rPr>
              <a:t>- How do these relationships differ across world regions?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/>
          <p:cNvSpPr txBox="1"/>
          <p:nvPr/>
        </p:nvSpPr>
        <p:spPr>
          <a:xfrm>
            <a:off x="750078" y="493009"/>
            <a:ext cx="7643843" cy="441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04-THIN" panose="02000506030000020003" pitchFamily="2" charset="0"/>
                <a:ea typeface="Lekton"/>
                <a:cs typeface="Lekton"/>
                <a:sym typeface="Lekton"/>
              </a:rPr>
              <a:t>About Data</a:t>
            </a:r>
            <a:endParaRPr sz="1800" b="1" dirty="0">
              <a:solidFill>
                <a:srgbClr val="D66B55"/>
              </a:solidFill>
              <a:latin typeface="LEKTON04-THIN" panose="02000506030000020003" pitchFamily="2" charset="0"/>
              <a:ea typeface="Lekton"/>
              <a:cs typeface="Lekton"/>
              <a:sym typeface="Lekton"/>
            </a:endParaRPr>
          </a:p>
          <a:p>
            <a:r>
              <a:rPr lang="en-US" b="1" dirty="0">
                <a:latin typeface="LEKTON04-THIN" panose="02000506030000020003" pitchFamily="2" charset="0"/>
              </a:rPr>
              <a:t>Data Source</a:t>
            </a:r>
            <a:endParaRPr lang="en-US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World Development Indicators (World Bank), publicly available open data.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Selected Indicators</a:t>
            </a:r>
            <a:endParaRPr lang="en-US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GDP per capita</a:t>
            </a:r>
          </a:p>
          <a:p>
            <a:r>
              <a:rPr lang="en-US" dirty="0">
                <a:latin typeface="LEKTON04-THIN" panose="02000506030000020003" pitchFamily="2" charset="0"/>
              </a:rPr>
              <a:t>Life expectancy at birth</a:t>
            </a:r>
          </a:p>
          <a:p>
            <a:r>
              <a:rPr lang="en-US" dirty="0">
                <a:latin typeface="LEKTON04-THIN" panose="02000506030000020003" pitchFamily="2" charset="0"/>
              </a:rPr>
              <a:t>CO₂ emissions per capita</a:t>
            </a:r>
          </a:p>
          <a:p>
            <a:r>
              <a:rPr lang="en-US" dirty="0">
                <a:latin typeface="LEKTON04-THIN" panose="02000506030000020003" pitchFamily="2" charset="0"/>
              </a:rPr>
              <a:t>Population growth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Data Considerations</a:t>
            </a:r>
            <a:endParaRPr lang="en-US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The dataset is publicly available and shared under an open data license</a:t>
            </a:r>
          </a:p>
          <a:p>
            <a:r>
              <a:rPr lang="en-US" dirty="0">
                <a:latin typeface="LEKTON04-THIN" panose="02000506030000020003" pitchFamily="2" charset="0"/>
              </a:rPr>
              <a:t>Some missing values were present, especially for earlier years</a:t>
            </a:r>
          </a:p>
          <a:p>
            <a:r>
              <a:rPr lang="en-US" dirty="0">
                <a:latin typeface="LEKTON04-THIN" panose="02000506030000020003" pitchFamily="2" charset="0"/>
              </a:rPr>
              <a:t>Data is generally reliable but may reflect estimation methods used by the World Bank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Data Cleaning</a:t>
            </a:r>
            <a:endParaRPr lang="en-US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Missing values handling</a:t>
            </a:r>
          </a:p>
          <a:p>
            <a:r>
              <a:rPr lang="en-US" dirty="0">
                <a:latin typeface="LEKTON04-THIN" panose="02000506030000020003" pitchFamily="2" charset="0"/>
              </a:rPr>
              <a:t>Merging multiple indicators into a single dataset</a:t>
            </a:r>
          </a:p>
          <a:p>
            <a:r>
              <a:rPr lang="en-US" dirty="0">
                <a:latin typeface="LEKTON04-THIN" panose="02000506030000020003" pitchFamily="2" charset="0"/>
              </a:rPr>
              <a:t>Filtering years and countries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/>
          <p:nvPr/>
        </p:nvSpPr>
        <p:spPr>
          <a:xfrm>
            <a:off x="129746" y="-28575"/>
            <a:ext cx="8884508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04-THIN" panose="02000506030000020003" pitchFamily="2" charset="0"/>
                <a:ea typeface="Lekton"/>
                <a:cs typeface="Lekton"/>
                <a:sym typeface="Lekton"/>
              </a:rPr>
              <a:t>Methodology</a:t>
            </a:r>
            <a:endParaRPr sz="1800" b="1" dirty="0">
              <a:solidFill>
                <a:srgbClr val="D66B55"/>
              </a:solidFill>
              <a:latin typeface="LEKTON04-THIN" panose="02000506030000020003" pitchFamily="2" charset="0"/>
              <a:ea typeface="Lekton"/>
              <a:cs typeface="Lekton"/>
              <a:sym typeface="Lekton"/>
            </a:endParaRPr>
          </a:p>
          <a:p>
            <a:r>
              <a:rPr lang="en-US" b="1" dirty="0">
                <a:latin typeface="LEKTON04-THIN" panose="02000506030000020003" pitchFamily="2" charset="0"/>
              </a:rPr>
              <a:t>Data Collection: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Data downloaded from the World Bank official website (CSV format)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Data Processing &amp; Cleaning: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Python (pandas, </a:t>
            </a:r>
            <a:r>
              <a:rPr lang="en-US" dirty="0" err="1">
                <a:latin typeface="LEKTON04-THIN" panose="02000506030000020003" pitchFamily="2" charset="0"/>
              </a:rPr>
              <a:t>numpy</a:t>
            </a:r>
            <a:r>
              <a:rPr lang="en-US" dirty="0">
                <a:latin typeface="LEKTON04-THIN" panose="02000506030000020003" pitchFamily="2" charset="0"/>
              </a:rPr>
              <a:t>)</a:t>
            </a:r>
            <a:r>
              <a:rPr lang="fa-IR" dirty="0">
                <a:latin typeface="LEKTON04-THIN" panose="02000506030000020003" pitchFamily="2" charset="0"/>
              </a:rPr>
              <a:t>/ </a:t>
            </a:r>
            <a:r>
              <a:rPr lang="en-US" dirty="0">
                <a:latin typeface="LEKTON04-THIN" panose="02000506030000020003" pitchFamily="2" charset="0"/>
              </a:rPr>
              <a:t>Data merging and filtering</a:t>
            </a:r>
            <a:r>
              <a:rPr lang="fa-IR" dirty="0">
                <a:latin typeface="LEKTON04-THIN" panose="02000506030000020003" pitchFamily="2" charset="0"/>
              </a:rPr>
              <a:t> / </a:t>
            </a:r>
            <a:r>
              <a:rPr lang="en-US" dirty="0">
                <a:latin typeface="LEKTON04-THIN" panose="02000506030000020003" pitchFamily="2" charset="0"/>
              </a:rPr>
              <a:t>Handling missing values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Data Transformation: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Multiple datasets were merged by country and year.</a:t>
            </a:r>
          </a:p>
          <a:p>
            <a:r>
              <a:rPr lang="en-US" dirty="0">
                <a:latin typeface="LEKTON04-THIN" panose="02000506030000020003" pitchFamily="2" charset="0"/>
              </a:rPr>
              <a:t>GDP per capita values were log-transformed for visualization to reduce skewness and improve interpretability.</a:t>
            </a:r>
          </a:p>
          <a:p>
            <a:r>
              <a:rPr lang="en-US" dirty="0">
                <a:latin typeface="LEKTON04-THIN" panose="02000506030000020003" pitchFamily="2" charset="0"/>
              </a:rPr>
              <a:t>Countries were mapped to world regions (Africa, Americas, Asia, Europe, Oceania) for regional comparison.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Visualization Tools &amp; Techniques: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Python libraries Seaborn (built on Matplotlib) were used to create a scatter plot exploring the relationship between GDP per capita and life expectancy.</a:t>
            </a:r>
          </a:p>
          <a:p>
            <a:r>
              <a:rPr lang="en-US" dirty="0" err="1">
                <a:latin typeface="LEKTON04-THIN" panose="02000506030000020003" pitchFamily="2" charset="0"/>
              </a:rPr>
              <a:t>Datawrapper</a:t>
            </a:r>
            <a:r>
              <a:rPr lang="en-US" dirty="0">
                <a:latin typeface="LEKTON04-THIN" panose="02000506030000020003" pitchFamily="2" charset="0"/>
              </a:rPr>
              <a:t> was used to produce a choropleth map illustrating CO₂ emissions per capita across countries.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Use of AI Tools: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 err="1">
                <a:latin typeface="LEKTON04-THIN" panose="02000506030000020003" pitchFamily="2" charset="0"/>
              </a:rPr>
              <a:t>ChatGPT</a:t>
            </a:r>
            <a:r>
              <a:rPr lang="en-US" dirty="0">
                <a:latin typeface="LEKTON04-THIN" panose="02000506030000020003" pitchFamily="2" charset="0"/>
              </a:rPr>
              <a:t> was used to support textual explanation and report structuring. </a:t>
            </a:r>
            <a:endParaRPr lang="fa-IR" dirty="0">
              <a:latin typeface="LEKTON04-THIN" panose="02000506030000020003" pitchFamily="2" charset="0"/>
            </a:endParaRPr>
          </a:p>
          <a:p>
            <a:r>
              <a:rPr lang="en-US" b="1" dirty="0">
                <a:latin typeface="LEKTON04-THIN" panose="02000506030000020003" pitchFamily="2" charset="0"/>
              </a:rPr>
              <a:t>Analytical Techniques: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Descriptive statistics to examine distributions and ranges of key indicators.</a:t>
            </a:r>
          </a:p>
          <a:p>
            <a:r>
              <a:rPr lang="en-US" dirty="0">
                <a:latin typeface="LEKTON04-THIN" panose="02000506030000020003" pitchFamily="2" charset="0"/>
              </a:rPr>
              <a:t>Trend analysis to study long-term changes in CO₂ emissions over time.</a:t>
            </a:r>
          </a:p>
          <a:p>
            <a:r>
              <a:rPr lang="en-US" dirty="0">
                <a:latin typeface="LEKTON04-THIN" panose="02000506030000020003" pitchFamily="2" charset="0"/>
              </a:rPr>
              <a:t>Correlation analysis to explore relationships between economic, health, and environmental variables.</a:t>
            </a:r>
            <a:endParaRPr lang="fa-IR">
              <a:latin typeface="LEKTON04-THIN" panose="02000506030000020003" pitchFamily="2" charset="0"/>
            </a:endParaRPr>
          </a:p>
          <a:p>
            <a:r>
              <a:rPr lang="en-US">
                <a:latin typeface="LEKTON04-THIN" panose="02000506030000020003" pitchFamily="2" charset="0"/>
              </a:rPr>
              <a:t> </a:t>
            </a:r>
            <a:r>
              <a:rPr lang="en-US" b="1" dirty="0">
                <a:latin typeface="LEKTON04-THIN" panose="02000506030000020003" pitchFamily="2" charset="0"/>
              </a:rPr>
              <a:t>Reproducibility: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Analysis can be replicated using the provided datasets and Python notebooks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1"/>
          <p:cNvSpPr txBox="1"/>
          <p:nvPr/>
        </p:nvSpPr>
        <p:spPr>
          <a:xfrm>
            <a:off x="567000" y="480977"/>
            <a:ext cx="8010000" cy="4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04-THIN" panose="02000506030000020003" pitchFamily="2" charset="0"/>
                <a:ea typeface="Lekton"/>
                <a:cs typeface="Lekton"/>
                <a:sym typeface="Lekton"/>
              </a:rPr>
              <a:t>Insights from the Data</a:t>
            </a:r>
            <a:endParaRPr sz="1800" b="1" dirty="0">
              <a:solidFill>
                <a:srgbClr val="D66B55"/>
              </a:solidFill>
              <a:latin typeface="LEKTON04-THIN" panose="02000506030000020003" pitchFamily="2" charset="0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>
                <a:latin typeface="LEKTON04-THIN" panose="02000506030000020003" pitchFamily="2" charset="0"/>
              </a:rPr>
              <a:t>Insights from the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b="1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Higher </a:t>
            </a:r>
            <a:r>
              <a:rPr lang="en-US" b="1" dirty="0">
                <a:latin typeface="LEKTON04-THIN" panose="02000506030000020003" pitchFamily="2" charset="0"/>
              </a:rPr>
              <a:t>GDP per capita</a:t>
            </a:r>
            <a:r>
              <a:rPr lang="en-US" dirty="0">
                <a:latin typeface="LEKTON04-THIN" panose="02000506030000020003" pitchFamily="2" charset="0"/>
              </a:rPr>
              <a:t> is associated with higher </a:t>
            </a:r>
            <a:r>
              <a:rPr lang="en-US" b="1" dirty="0">
                <a:latin typeface="LEKTON04-THIN" panose="02000506030000020003" pitchFamily="2" charset="0"/>
              </a:rPr>
              <a:t>life expectancy</a:t>
            </a:r>
            <a:r>
              <a:rPr lang="en-US" dirty="0">
                <a:latin typeface="LEKTON04-THIN" panose="02000506030000020003" pitchFamily="2" charset="0"/>
              </a:rPr>
              <a:t> across countries.</a:t>
            </a:r>
          </a:p>
          <a:p>
            <a:r>
              <a:rPr lang="en-US" dirty="0">
                <a:latin typeface="LEKTON04-THIN" panose="02000506030000020003" pitchFamily="2" charset="0"/>
              </a:rPr>
              <a:t>The GDP–life expectancy relationship shows </a:t>
            </a:r>
            <a:r>
              <a:rPr lang="en-US" b="1" dirty="0">
                <a:latin typeface="LEKTON04-THIN" panose="02000506030000020003" pitchFamily="2" charset="0"/>
              </a:rPr>
              <a:t>diminishing returns</a:t>
            </a:r>
            <a:r>
              <a:rPr lang="en-US" dirty="0">
                <a:latin typeface="LEKTON04-THIN" panose="02000506030000020003" pitchFamily="2" charset="0"/>
              </a:rPr>
              <a:t> at high income levels.</a:t>
            </a:r>
          </a:p>
          <a:p>
            <a:r>
              <a:rPr lang="en-US" b="1" dirty="0">
                <a:latin typeface="LEKTON04-THIN" panose="02000506030000020003" pitchFamily="2" charset="0"/>
              </a:rPr>
              <a:t>CO₂ emissions per capita</a:t>
            </a:r>
            <a:r>
              <a:rPr lang="en-US" dirty="0">
                <a:latin typeface="LEKTON04-THIN" panose="02000506030000020003" pitchFamily="2" charset="0"/>
              </a:rPr>
              <a:t> increase with economic development, especially in industrialized regions.</a:t>
            </a:r>
          </a:p>
          <a:p>
            <a:r>
              <a:rPr lang="en-US" dirty="0">
                <a:latin typeface="LEKTON04-THIN" panose="02000506030000020003" pitchFamily="2" charset="0"/>
              </a:rPr>
              <a:t>Developing regions show </a:t>
            </a:r>
            <a:r>
              <a:rPr lang="en-US" b="1" dirty="0">
                <a:latin typeface="LEKTON04-THIN" panose="02000506030000020003" pitchFamily="2" charset="0"/>
              </a:rPr>
              <a:t>rapid growth in CO₂ emissions</a:t>
            </a:r>
            <a:r>
              <a:rPr lang="en-US" dirty="0">
                <a:latin typeface="LEKTON04-THIN" panose="02000506030000020003" pitchFamily="2" charset="0"/>
              </a:rPr>
              <a:t> over time.</a:t>
            </a:r>
          </a:p>
          <a:p>
            <a:r>
              <a:rPr lang="en-US" dirty="0">
                <a:latin typeface="LEKTON04-THIN" panose="02000506030000020003" pitchFamily="2" charset="0"/>
              </a:rPr>
              <a:t>Higher population growth appears to be associated with lower life expectancy in several </a:t>
            </a:r>
            <a:r>
              <a:rPr lang="en-US" dirty="0" err="1">
                <a:latin typeface="LEKTON04-THIN" panose="02000506030000020003" pitchFamily="2" charset="0"/>
              </a:rPr>
              <a:t>regions.Strong</a:t>
            </a:r>
            <a:r>
              <a:rPr lang="en-US" dirty="0">
                <a:latin typeface="LEKTON04-THIN" panose="02000506030000020003" pitchFamily="2" charset="0"/>
              </a:rPr>
              <a:t> </a:t>
            </a:r>
            <a:r>
              <a:rPr lang="en-US" b="1" dirty="0">
                <a:latin typeface="LEKTON04-THIN" panose="02000506030000020003" pitchFamily="2" charset="0"/>
              </a:rPr>
              <a:t>regional differences</a:t>
            </a:r>
            <a:r>
              <a:rPr lang="en-US" dirty="0">
                <a:latin typeface="LEKTON04-THIN" panose="02000506030000020003" pitchFamily="2" charset="0"/>
              </a:rPr>
              <a:t> exist in economic, health, and environmental indicators.</a:t>
            </a:r>
            <a:endParaRPr lang="fa-IR" dirty="0">
              <a:latin typeface="LEKTON04-THIN" panose="02000506030000020003" pitchFamily="2" charset="0"/>
            </a:endParaRPr>
          </a:p>
          <a:p>
            <a:endParaRPr lang="fa-IR" dirty="0">
              <a:latin typeface="LEKTON04-THIN" panose="02000506030000020003" pitchFamily="2" charset="0"/>
            </a:endParaRPr>
          </a:p>
          <a:p>
            <a:r>
              <a:rPr lang="en-US" b="1" dirty="0">
                <a:latin typeface="LEKTON04-THIN" panose="02000506030000020003" pitchFamily="2" charset="0"/>
              </a:rPr>
              <a:t>Analysis Methods Used</a:t>
            </a:r>
          </a:p>
          <a:p>
            <a:endParaRPr lang="fa-IR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Descriptive statistics</a:t>
            </a:r>
          </a:p>
          <a:p>
            <a:r>
              <a:rPr lang="en-US" dirty="0">
                <a:latin typeface="LEKTON04-THIN" panose="02000506030000020003" pitchFamily="2" charset="0"/>
              </a:rPr>
              <a:t>Correlation analysis</a:t>
            </a:r>
          </a:p>
          <a:p>
            <a:r>
              <a:rPr lang="en-US" dirty="0">
                <a:latin typeface="LEKTON04-THIN" panose="02000506030000020003" pitchFamily="2" charset="0"/>
              </a:rPr>
              <a:t>Trend and comparative analysis</a:t>
            </a:r>
          </a:p>
          <a:p>
            <a:endParaRPr lang="en-US" dirty="0">
              <a:latin typeface="LEKTON04-THIN" panose="02000506030000020003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AE8C58D-F6A3-900B-73FD-D85171014107}"/>
              </a:ext>
            </a:extLst>
          </p:cNvPr>
          <p:cNvSpPr txBox="1"/>
          <p:nvPr/>
        </p:nvSpPr>
        <p:spPr>
          <a:xfrm>
            <a:off x="5438273" y="1499500"/>
            <a:ext cx="3404936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latin typeface="LEKTON04-THIN" panose="02000506030000020003" pitchFamily="2" charset="0"/>
            </a:endParaRPr>
          </a:p>
          <a:p>
            <a:r>
              <a:rPr lang="en-US" b="1" dirty="0">
                <a:latin typeface="LEKTON04-THIN" panose="02000506030000020003" pitchFamily="2" charset="0"/>
              </a:rPr>
              <a:t>Economic Growth and Health Outcomes</a:t>
            </a:r>
            <a:endParaRPr lang="en-US" dirty="0">
              <a:latin typeface="LEKTON04-THIN" panose="02000506030000020003" pitchFamily="2" charset="0"/>
            </a:endParaRPr>
          </a:p>
          <a:p>
            <a:endParaRPr lang="en-US" b="1" dirty="0">
              <a:latin typeface="LEKTON04-THIN" panose="02000506030000020003" pitchFamily="2" charset="0"/>
            </a:endParaRPr>
          </a:p>
          <a:p>
            <a:r>
              <a:rPr lang="en-US" dirty="0">
                <a:latin typeface="LEKTON04-THIN" panose="02000506030000020003" pitchFamily="2" charset="0"/>
              </a:rPr>
              <a:t>This visualization shows the relationship between GDP per capita and life expectancy in 2019.</a:t>
            </a:r>
          </a:p>
          <a:p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A clear positive relationship emerges, although diminishing returns are observed at higher income levels.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386E10-E74F-215A-5065-15485EFA4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55" y="324852"/>
            <a:ext cx="5342018" cy="44780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A95C80-320F-2B41-ECE7-7886AA9E6B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44" r="8129" b="2026"/>
          <a:stretch/>
        </p:blipFill>
        <p:spPr>
          <a:xfrm>
            <a:off x="958818" y="0"/>
            <a:ext cx="7226363" cy="50392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11D164-6F39-8295-9FCC-C0B0A39EA485}"/>
              </a:ext>
            </a:extLst>
          </p:cNvPr>
          <p:cNvSpPr txBox="1"/>
          <p:nvPr/>
        </p:nvSpPr>
        <p:spPr>
          <a:xfrm>
            <a:off x="241160" y="4401177"/>
            <a:ext cx="90736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200" b="1" dirty="0"/>
          </a:p>
          <a:p>
            <a:r>
              <a:rPr lang="en-US" sz="1200" b="1" dirty="0">
                <a:latin typeface="LEKTON04-THIN" panose="02000506030000020003" pitchFamily="2" charset="0"/>
              </a:rPr>
              <a:t>These differences highlight the challenge of achieving economic growth while limiting environmental impact.</a:t>
            </a:r>
            <a:endParaRPr lang="en-US" sz="1200" dirty="0">
              <a:latin typeface="LEKTON04-THIN" panose="0200050603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871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1AFAE9-2B9B-F01A-3E0D-A27A38441587}"/>
              </a:ext>
            </a:extLst>
          </p:cNvPr>
          <p:cNvSpPr txBox="1"/>
          <p:nvPr/>
        </p:nvSpPr>
        <p:spPr>
          <a:xfrm>
            <a:off x="840259" y="1945671"/>
            <a:ext cx="6858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</a:pPr>
            <a:r>
              <a:rPr lang="en-US" dirty="0">
                <a:latin typeface="LEKTON04-THIN" panose="02000506030000020003" pitchFamily="2" charset="0"/>
              </a:rPr>
              <a:t>While economic growth is associated with improved quality of life, it also generates significant environmental pressure.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These findings highlight the challenge of achieving sustainable development that balances prosperity, health, and environmental responsibility.</a:t>
            </a:r>
          </a:p>
        </p:txBody>
      </p:sp>
    </p:spTree>
    <p:extLst>
      <p:ext uri="{BB962C8B-B14F-4D97-AF65-F5344CB8AC3E}">
        <p14:creationId xmlns:p14="http://schemas.microsoft.com/office/powerpoint/2010/main" val="270732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540000" y="860725"/>
            <a:ext cx="3288900" cy="4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it" b="1">
                <a:latin typeface="Titillium Web"/>
                <a:ea typeface="Titillium Web"/>
                <a:cs typeface="Titillium Web"/>
                <a:sym typeface="Titillium Web"/>
              </a:rPr>
              <a:t>LICENCE</a:t>
            </a:r>
            <a:endParaRPr b="1"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192" name="Google Shape;192;p36"/>
          <p:cNvSpPr txBox="1"/>
          <p:nvPr/>
        </p:nvSpPr>
        <p:spPr>
          <a:xfrm>
            <a:off x="4770000" y="860725"/>
            <a:ext cx="3780000" cy="631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Slides</a:t>
            </a:r>
            <a:r>
              <a:rPr lang="it" sz="1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are shared with the following license:</a:t>
            </a: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631B0-F229-90B3-13AD-245A1A11C8DC}"/>
              </a:ext>
            </a:extLst>
          </p:cNvPr>
          <p:cNvSpPr txBox="1"/>
          <p:nvPr/>
        </p:nvSpPr>
        <p:spPr>
          <a:xfrm>
            <a:off x="4572000" y="2094696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lang="en-US" i="1" dirty="0">
                <a:latin typeface="LEKTON04-THIN" panose="02000506030000020003" pitchFamily="2" charset="0"/>
              </a:rPr>
              <a:t>The Cost of Progress</a:t>
            </a:r>
            <a:r>
              <a:rPr lang="en-US" dirty="0">
                <a:latin typeface="LEKTON04-THIN" panose="02000506030000020003" pitchFamily="2" charset="0"/>
              </a:rPr>
              <a:t> by </a:t>
            </a:r>
            <a:r>
              <a:rPr lang="en-US" i="1" dirty="0" err="1">
                <a:latin typeface="LEKTON04-THIN" panose="02000506030000020003" pitchFamily="2" charset="0"/>
              </a:rPr>
              <a:t>Hanieh</a:t>
            </a:r>
            <a:r>
              <a:rPr lang="en-US" i="1" dirty="0">
                <a:latin typeface="LEKTON04-THIN" panose="02000506030000020003" pitchFamily="2" charset="0"/>
              </a:rPr>
              <a:t> </a:t>
            </a:r>
            <a:r>
              <a:rPr lang="en-US" i="1" dirty="0" err="1">
                <a:latin typeface="LEKTON04-THIN" panose="02000506030000020003" pitchFamily="2" charset="0"/>
              </a:rPr>
              <a:t>Mirzad</a:t>
            </a:r>
            <a:br>
              <a:rPr lang="en-US" dirty="0">
                <a:latin typeface="LEKTON04-THIN" panose="02000506030000020003" pitchFamily="2" charset="0"/>
              </a:rPr>
            </a:br>
            <a:r>
              <a:rPr lang="en-US" dirty="0">
                <a:latin typeface="LEKTON04-THIN" panose="02000506030000020003" pitchFamily="2" charset="0"/>
              </a:rPr>
              <a:t>is licensed under </a:t>
            </a:r>
            <a:r>
              <a:rPr lang="en-US" b="1" dirty="0">
                <a:latin typeface="LEKTON04-THIN" panose="02000506030000020003" pitchFamily="2" charset="0"/>
              </a:rPr>
              <a:t>Creative Commons Attribution 4.0 International (CC BY 4.0)</a:t>
            </a:r>
            <a:endParaRPr lang="en-US" dirty="0">
              <a:latin typeface="LEKTON04-THIN" panose="02000506030000020003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620</Words>
  <Application>Microsoft Macintosh PowerPoint</Application>
  <PresentationFormat>On-screen Show (16:9)</PresentationFormat>
  <Paragraphs>69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LEKTON04-THIN</vt:lpstr>
      <vt:lpstr>Lekton</vt:lpstr>
      <vt:lpstr>Titillium Web</vt:lpstr>
      <vt:lpstr>Simple Light</vt:lpstr>
      <vt:lpstr>Data Visualization Pitch Student  Individual Assignment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 Pitch Student  Individual Assignment</dc:title>
  <cp:lastModifiedBy>hani m</cp:lastModifiedBy>
  <cp:revision>9</cp:revision>
  <dcterms:modified xsi:type="dcterms:W3CDTF">2026-01-05T14:44:14Z</dcterms:modified>
</cp:coreProperties>
</file>