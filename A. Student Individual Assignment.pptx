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1"/>
  </p:notesMasterIdLst>
  <p:sldIdLst>
    <p:sldId id="258" r:id="rId2"/>
    <p:sldId id="263" r:id="rId3"/>
    <p:sldId id="264" r:id="rId4"/>
    <p:sldId id="265" r:id="rId5"/>
    <p:sldId id="266" r:id="rId6"/>
    <p:sldId id="268" r:id="rId7"/>
    <p:sldId id="273" r:id="rId8"/>
    <p:sldId id="274" r:id="rId9"/>
    <p:sldId id="271" r:id="rId10"/>
  </p:sldIdLst>
  <p:sldSz cx="9144000" cy="5143500" type="screen16x9"/>
  <p:notesSz cx="6858000" cy="9144000"/>
  <p:embeddedFontLst>
    <p:embeddedFont>
      <p:font typeface="Lekton" panose="02000506030000020003" pitchFamily="2" charset="0"/>
      <p:regular r:id="rId12"/>
      <p:bold r:id="rId13"/>
      <p:italic r:id="rId14"/>
    </p:embeddedFont>
    <p:embeddedFont>
      <p:font typeface="LEKTON04-THIN" panose="02000506030000020003" pitchFamily="2" charset="0"/>
      <p:regular r:id="rId15"/>
    </p:embeddedFont>
    <p:embeddedFont>
      <p:font typeface="Titillium Web" pitchFamily="2" charset="77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59"/>
    <p:restoredTop sz="94663"/>
  </p:normalViewPr>
  <p:slideViewPr>
    <p:cSldViewPr snapToGrid="0">
      <p:cViewPr varScale="1">
        <p:scale>
          <a:sx n="105" d="100"/>
          <a:sy n="105" d="100"/>
        </p:scale>
        <p:origin x="200" y="1008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aniehmzd/Data-Visualization.gi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niehmzd/Data-Visualization.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9D1D5-B382-53C7-9B3E-CE2871CBCA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28" t="4575" r="13290" b="6253"/>
          <a:stretch/>
        </p:blipFill>
        <p:spPr>
          <a:xfrm>
            <a:off x="-1" y="1427650"/>
            <a:ext cx="4576683" cy="2893141"/>
          </a:xfrm>
          <a:prstGeom prst="rect">
            <a:avLst/>
          </a:prstGeom>
        </p:spPr>
      </p:pic>
      <p:sp>
        <p:nvSpPr>
          <p:cNvPr id="115" name="Google Shape;115;p23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-12900" y="207900"/>
            <a:ext cx="4584900" cy="81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/>
              <a:t>Data Visualization Pitch</a:t>
            </a:r>
            <a:endParaRPr sz="18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 Individual Assignment</a:t>
            </a:r>
            <a:endParaRPr sz="18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572000" y="3367667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en-US" b="1" dirty="0" err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Hanieh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en-US" b="1" dirty="0" err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Mirzad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923891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h.mirzad@campus.unimib.it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18" name="Google Shape;118;p23"/>
          <p:cNvCxnSpPr/>
          <p:nvPr/>
        </p:nvCxnSpPr>
        <p:spPr>
          <a:xfrm>
            <a:off x="457200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3"/>
          <p:cNvSpPr txBox="1"/>
          <p:nvPr/>
        </p:nvSpPr>
        <p:spPr>
          <a:xfrm>
            <a:off x="4572000" y="438596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LEKTON04-THIN" panose="02000506030000020003" pitchFamily="2" charset="0"/>
              </a:rPr>
              <a:t>The Cost of Progress</a:t>
            </a:r>
            <a:br>
              <a:rPr lang="en-US" sz="2400" dirty="0">
                <a:latin typeface="LEKTON04-THIN" panose="02000506030000020003" pitchFamily="2" charset="0"/>
              </a:rPr>
            </a:br>
            <a:r>
              <a:rPr lang="en-US" sz="2000" i="1" dirty="0">
                <a:latin typeface="LEKTON04-THIN" panose="02000506030000020003" pitchFamily="2" charset="0"/>
              </a:rPr>
              <a:t>A Trend Analysis of Wealth, Health, and Environment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 dirty="0">
                <a:latin typeface="LEKTON04-THIN" panose="02000506030000020003" pitchFamily="2" charset="0"/>
              </a:rPr>
              <a:t>(1960–2020)</a:t>
            </a:r>
            <a:endParaRPr sz="1800" b="1" dirty="0">
              <a:solidFill>
                <a:srgbClr val="000000"/>
              </a:solidFill>
              <a:latin typeface="LEKTON04-THIN" panose="02000506030000020003" pitchFamily="2" charset="0"/>
              <a:ea typeface="Lekton"/>
              <a:cs typeface="Lekton"/>
              <a:sym typeface="Lekto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2BF35A-1112-EE24-407F-723AA5DBEEFC}"/>
              </a:ext>
            </a:extLst>
          </p:cNvPr>
          <p:cNvSpPr txBox="1"/>
          <p:nvPr/>
        </p:nvSpPr>
        <p:spPr>
          <a:xfrm>
            <a:off x="4419601" y="4265015"/>
            <a:ext cx="4588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github.com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Haniehmzd</a:t>
            </a:r>
            <a:r>
              <a:rPr lang="en-US" dirty="0">
                <a:hlinkClick r:id="rId4"/>
              </a:rPr>
              <a:t>/Data-</a:t>
            </a:r>
            <a:r>
              <a:rPr lang="en-US" dirty="0" err="1">
                <a:hlinkClick r:id="rId4"/>
              </a:rPr>
              <a:t>Visualization.git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67000" y="769735"/>
            <a:ext cx="80100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Research questions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r>
              <a:rPr lang="en-US" b="1" dirty="0">
                <a:latin typeface="LEKTON04-THIN" panose="02000506030000020003" pitchFamily="2" charset="0"/>
              </a:rPr>
              <a:t>Primary Research Question</a:t>
            </a:r>
            <a:endParaRPr lang="en-US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-How is economic growth related to quality of life and environmental impact across countries?</a:t>
            </a:r>
          </a:p>
          <a:p>
            <a:endParaRPr lang="en-US" dirty="0">
              <a:latin typeface="LEKTON04-THIN" panose="02000506030000020003" pitchFamily="2" charset="0"/>
            </a:endParaRPr>
          </a:p>
          <a:p>
            <a:r>
              <a:rPr lang="en-US" b="1" dirty="0">
                <a:latin typeface="LEKTON04-THIN" panose="02000506030000020003" pitchFamily="2" charset="0"/>
              </a:rPr>
              <a:t>Secondary Research Questions</a:t>
            </a:r>
            <a:endParaRPr lang="en-US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- Is higher GDP per capita associated with higher life expectancy?</a:t>
            </a:r>
          </a:p>
          <a:p>
            <a:r>
              <a:rPr lang="en-US" dirty="0">
                <a:latin typeface="LEKTON04-THIN" panose="02000506030000020003" pitchFamily="2" charset="0"/>
              </a:rPr>
              <a:t>- Does economic development lead to higher CO₂ emissions?</a:t>
            </a:r>
          </a:p>
          <a:p>
            <a:r>
              <a:rPr lang="en-US" dirty="0">
                <a:latin typeface="LEKTON04-THIN" panose="02000506030000020003" pitchFamily="2" charset="0"/>
              </a:rPr>
              <a:t>- How do these relationships differ across world regions?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750078" y="493009"/>
            <a:ext cx="7643843" cy="441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04-THIN" panose="02000506030000020003" pitchFamily="2" charset="0"/>
                <a:ea typeface="Lekton"/>
                <a:cs typeface="Lekton"/>
                <a:sym typeface="Lekton"/>
              </a:rPr>
              <a:t>About Data</a:t>
            </a:r>
            <a:endParaRPr sz="1800" b="1" dirty="0">
              <a:solidFill>
                <a:srgbClr val="D66B55"/>
              </a:solidFill>
              <a:latin typeface="LEKTON04-THIN" panose="02000506030000020003" pitchFamily="2" charset="0"/>
              <a:ea typeface="Lekton"/>
              <a:cs typeface="Lekton"/>
              <a:sym typeface="Lekton"/>
            </a:endParaRPr>
          </a:p>
          <a:p>
            <a:r>
              <a:rPr lang="en-US" b="1" dirty="0">
                <a:latin typeface="LEKTON04-THIN" panose="02000506030000020003" pitchFamily="2" charset="0"/>
              </a:rPr>
              <a:t>Data Source</a:t>
            </a:r>
            <a:endParaRPr lang="en-US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World Development Indicators (World Bank), publicly available open data.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Selected Indicators</a:t>
            </a:r>
            <a:endParaRPr lang="en-US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GDP per capita</a:t>
            </a:r>
          </a:p>
          <a:p>
            <a:r>
              <a:rPr lang="en-US" dirty="0">
                <a:latin typeface="LEKTON04-THIN" panose="02000506030000020003" pitchFamily="2" charset="0"/>
              </a:rPr>
              <a:t>Life expectancy at birth</a:t>
            </a:r>
          </a:p>
          <a:p>
            <a:r>
              <a:rPr lang="en-US" dirty="0">
                <a:latin typeface="LEKTON04-THIN" panose="02000506030000020003" pitchFamily="2" charset="0"/>
              </a:rPr>
              <a:t>CO₂ emissions per capita</a:t>
            </a:r>
          </a:p>
          <a:p>
            <a:r>
              <a:rPr lang="en-US" dirty="0">
                <a:latin typeface="LEKTON04-THIN" panose="02000506030000020003" pitchFamily="2" charset="0"/>
              </a:rPr>
              <a:t>Population growth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Data Considerations</a:t>
            </a:r>
            <a:endParaRPr lang="en-US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The dataset is publicly available and shared under an open data license</a:t>
            </a:r>
          </a:p>
          <a:p>
            <a:r>
              <a:rPr lang="en-US" dirty="0">
                <a:latin typeface="LEKTON04-THIN" panose="02000506030000020003" pitchFamily="2" charset="0"/>
              </a:rPr>
              <a:t>Some missing values were present, especially for earlier years</a:t>
            </a:r>
          </a:p>
          <a:p>
            <a:r>
              <a:rPr lang="en-US" dirty="0">
                <a:latin typeface="LEKTON04-THIN" panose="02000506030000020003" pitchFamily="2" charset="0"/>
              </a:rPr>
              <a:t>Data is generally reliable but may reflect estimation methods used by the World Bank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Data Cleaning</a:t>
            </a:r>
            <a:endParaRPr lang="en-US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Missing values handling</a:t>
            </a:r>
          </a:p>
          <a:p>
            <a:r>
              <a:rPr lang="en-US" dirty="0">
                <a:latin typeface="LEKTON04-THIN" panose="02000506030000020003" pitchFamily="2" charset="0"/>
              </a:rPr>
              <a:t>Merging multiple indicators into a single dataset</a:t>
            </a:r>
          </a:p>
          <a:p>
            <a:r>
              <a:rPr lang="en-US" dirty="0">
                <a:latin typeface="LEKTON04-THIN" panose="02000506030000020003" pitchFamily="2" charset="0"/>
              </a:rPr>
              <a:t>Filtering years and countries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129746" y="-28575"/>
            <a:ext cx="888450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04-THIN" panose="02000506030000020003" pitchFamily="2" charset="0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04-THIN" panose="02000506030000020003" pitchFamily="2" charset="0"/>
              <a:ea typeface="Lekton"/>
              <a:cs typeface="Lekton"/>
              <a:sym typeface="Lekton"/>
            </a:endParaRPr>
          </a:p>
          <a:p>
            <a:r>
              <a:rPr lang="en-US" b="1" dirty="0">
                <a:latin typeface="LEKTON04-THIN" panose="02000506030000020003" pitchFamily="2" charset="0"/>
              </a:rPr>
              <a:t>Data Collection: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Data downloaded from the World Bank official website (CSV format)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Data Processing &amp; Cleaning: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Python (pandas, </a:t>
            </a:r>
            <a:r>
              <a:rPr lang="en-US" dirty="0" err="1">
                <a:latin typeface="LEKTON04-THIN" panose="02000506030000020003" pitchFamily="2" charset="0"/>
              </a:rPr>
              <a:t>numpy</a:t>
            </a:r>
            <a:r>
              <a:rPr lang="en-US" dirty="0">
                <a:latin typeface="LEKTON04-THIN" panose="02000506030000020003" pitchFamily="2" charset="0"/>
              </a:rPr>
              <a:t>)</a:t>
            </a:r>
            <a:r>
              <a:rPr lang="fa-IR" dirty="0">
                <a:latin typeface="LEKTON04-THIN" panose="02000506030000020003" pitchFamily="2" charset="0"/>
              </a:rPr>
              <a:t>/ </a:t>
            </a:r>
            <a:r>
              <a:rPr lang="en-US" dirty="0">
                <a:latin typeface="LEKTON04-THIN" panose="02000506030000020003" pitchFamily="2" charset="0"/>
              </a:rPr>
              <a:t>Data merging and filtering</a:t>
            </a:r>
            <a:r>
              <a:rPr lang="fa-IR" dirty="0">
                <a:latin typeface="LEKTON04-THIN" panose="02000506030000020003" pitchFamily="2" charset="0"/>
              </a:rPr>
              <a:t> / </a:t>
            </a:r>
            <a:r>
              <a:rPr lang="en-US" dirty="0">
                <a:latin typeface="LEKTON04-THIN" panose="02000506030000020003" pitchFamily="2" charset="0"/>
              </a:rPr>
              <a:t>Handling missing values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Data Transformation: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Multiple datasets were merged by country and year.</a:t>
            </a:r>
          </a:p>
          <a:p>
            <a:r>
              <a:rPr lang="en-US" dirty="0">
                <a:latin typeface="LEKTON04-THIN" panose="02000506030000020003" pitchFamily="2" charset="0"/>
              </a:rPr>
              <a:t>GDP per capita values were log-transformed for visualization to reduce skewness and improve interpretability.</a:t>
            </a:r>
          </a:p>
          <a:p>
            <a:r>
              <a:rPr lang="en-US" dirty="0">
                <a:latin typeface="LEKTON04-THIN" panose="02000506030000020003" pitchFamily="2" charset="0"/>
              </a:rPr>
              <a:t>Countries were mapped to world regions (Africa, Americas, Asia, Europe, Oceania) for regional comparison.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Visualization Tools &amp; Techniques: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Python libraries Seaborn (built on Matplotlib) were used to create a scatter plot exploring the relationship between GDP per capita and life expectancy.</a:t>
            </a:r>
          </a:p>
          <a:p>
            <a:r>
              <a:rPr lang="en-US" dirty="0" err="1">
                <a:latin typeface="LEKTON04-THIN" panose="02000506030000020003" pitchFamily="2" charset="0"/>
              </a:rPr>
              <a:t>Datawrapper</a:t>
            </a:r>
            <a:r>
              <a:rPr lang="en-US" dirty="0">
                <a:latin typeface="LEKTON04-THIN" panose="02000506030000020003" pitchFamily="2" charset="0"/>
              </a:rPr>
              <a:t> was used to produce a choropleth map illustrating CO₂ emissions per capita across countries.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Use of AI Tools: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 err="1">
                <a:latin typeface="LEKTON04-THIN" panose="02000506030000020003" pitchFamily="2" charset="0"/>
              </a:rPr>
              <a:t>ChatGPT</a:t>
            </a:r>
            <a:r>
              <a:rPr lang="en-US" dirty="0">
                <a:latin typeface="LEKTON04-THIN" panose="02000506030000020003" pitchFamily="2" charset="0"/>
              </a:rPr>
              <a:t> was used to support textual explanation and report structuring. </a:t>
            </a:r>
            <a:endParaRPr lang="fa-IR" dirty="0">
              <a:latin typeface="LEKTON04-THIN" panose="02000506030000020003" pitchFamily="2" charset="0"/>
            </a:endParaRPr>
          </a:p>
          <a:p>
            <a:r>
              <a:rPr lang="en-US" b="1" dirty="0">
                <a:latin typeface="LEKTON04-THIN" panose="02000506030000020003" pitchFamily="2" charset="0"/>
              </a:rPr>
              <a:t>Analytical Techniques: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Descriptive statistics to examine distributions and ranges of key indicators.</a:t>
            </a:r>
          </a:p>
          <a:p>
            <a:r>
              <a:rPr lang="en-US" dirty="0">
                <a:latin typeface="LEKTON04-THIN" panose="02000506030000020003" pitchFamily="2" charset="0"/>
              </a:rPr>
              <a:t>Trend analysis to study long-term changes in CO₂ emissions over time.</a:t>
            </a:r>
          </a:p>
          <a:p>
            <a:r>
              <a:rPr lang="en-US" dirty="0">
                <a:latin typeface="LEKTON04-THIN" panose="02000506030000020003" pitchFamily="2" charset="0"/>
              </a:rPr>
              <a:t>Correlation analysis to explore relationships between economic, health, and environmental variables.</a:t>
            </a:r>
            <a:endParaRPr lang="fa-IR">
              <a:latin typeface="LEKTON04-THIN" panose="02000506030000020003" pitchFamily="2" charset="0"/>
            </a:endParaRPr>
          </a:p>
          <a:p>
            <a:r>
              <a:rPr lang="en-US">
                <a:latin typeface="LEKTON04-THIN" panose="02000506030000020003" pitchFamily="2" charset="0"/>
              </a:rPr>
              <a:t> </a:t>
            </a:r>
            <a:r>
              <a:rPr lang="en-US" b="1" dirty="0">
                <a:latin typeface="LEKTON04-THIN" panose="02000506030000020003" pitchFamily="2" charset="0"/>
              </a:rPr>
              <a:t>Reproducibility: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Analysis can be replicated using the provided datasets and Python notebooks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567000" y="480977"/>
            <a:ext cx="8010000" cy="4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04-THIN" panose="02000506030000020003" pitchFamily="2" charset="0"/>
                <a:ea typeface="Lekton"/>
                <a:cs typeface="Lekton"/>
                <a:sym typeface="Lekton"/>
              </a:rPr>
              <a:t>Insights from the Data</a:t>
            </a:r>
            <a:endParaRPr sz="1800" b="1" dirty="0">
              <a:solidFill>
                <a:srgbClr val="D66B55"/>
              </a:solidFill>
              <a:latin typeface="LEKTON04-THIN" panose="02000506030000020003" pitchFamily="2" charset="0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LEKTON04-THIN" panose="02000506030000020003" pitchFamily="2" charset="0"/>
              </a:rPr>
              <a:t>Insights from the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b="1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Higher </a:t>
            </a:r>
            <a:r>
              <a:rPr lang="en-US" b="1" dirty="0">
                <a:latin typeface="LEKTON04-THIN" panose="02000506030000020003" pitchFamily="2" charset="0"/>
              </a:rPr>
              <a:t>GDP per capita</a:t>
            </a:r>
            <a:r>
              <a:rPr lang="en-US" dirty="0">
                <a:latin typeface="LEKTON04-THIN" panose="02000506030000020003" pitchFamily="2" charset="0"/>
              </a:rPr>
              <a:t> is associated with higher </a:t>
            </a:r>
            <a:r>
              <a:rPr lang="en-US" b="1" dirty="0">
                <a:latin typeface="LEKTON04-THIN" panose="02000506030000020003" pitchFamily="2" charset="0"/>
              </a:rPr>
              <a:t>life expectancy</a:t>
            </a:r>
            <a:r>
              <a:rPr lang="en-US" dirty="0">
                <a:latin typeface="LEKTON04-THIN" panose="02000506030000020003" pitchFamily="2" charset="0"/>
              </a:rPr>
              <a:t> across countries.</a:t>
            </a:r>
          </a:p>
          <a:p>
            <a:r>
              <a:rPr lang="en-US" dirty="0">
                <a:latin typeface="LEKTON04-THIN" panose="02000506030000020003" pitchFamily="2" charset="0"/>
              </a:rPr>
              <a:t>The GDP–life expectancy relationship shows </a:t>
            </a:r>
            <a:r>
              <a:rPr lang="en-US" b="1" dirty="0">
                <a:latin typeface="LEKTON04-THIN" panose="02000506030000020003" pitchFamily="2" charset="0"/>
              </a:rPr>
              <a:t>diminishing returns</a:t>
            </a:r>
            <a:r>
              <a:rPr lang="en-US" dirty="0">
                <a:latin typeface="LEKTON04-THIN" panose="02000506030000020003" pitchFamily="2" charset="0"/>
              </a:rPr>
              <a:t> at high income levels.</a:t>
            </a:r>
          </a:p>
          <a:p>
            <a:r>
              <a:rPr lang="en-US" b="1" dirty="0">
                <a:latin typeface="LEKTON04-THIN" panose="02000506030000020003" pitchFamily="2" charset="0"/>
              </a:rPr>
              <a:t>CO₂ emissions per capita</a:t>
            </a:r>
            <a:r>
              <a:rPr lang="en-US" dirty="0">
                <a:latin typeface="LEKTON04-THIN" panose="02000506030000020003" pitchFamily="2" charset="0"/>
              </a:rPr>
              <a:t> increase with economic development, especially in industrialized regions.</a:t>
            </a:r>
          </a:p>
          <a:p>
            <a:r>
              <a:rPr lang="en-US" dirty="0">
                <a:latin typeface="LEKTON04-THIN" panose="02000506030000020003" pitchFamily="2" charset="0"/>
              </a:rPr>
              <a:t>Developing regions show </a:t>
            </a:r>
            <a:r>
              <a:rPr lang="en-US" b="1" dirty="0">
                <a:latin typeface="LEKTON04-THIN" panose="02000506030000020003" pitchFamily="2" charset="0"/>
              </a:rPr>
              <a:t>rapid growth in CO₂ emissions</a:t>
            </a:r>
            <a:r>
              <a:rPr lang="en-US" dirty="0">
                <a:latin typeface="LEKTON04-THIN" panose="02000506030000020003" pitchFamily="2" charset="0"/>
              </a:rPr>
              <a:t> over time.</a:t>
            </a:r>
          </a:p>
          <a:p>
            <a:r>
              <a:rPr lang="en-US" dirty="0">
                <a:latin typeface="LEKTON04-THIN" panose="02000506030000020003" pitchFamily="2" charset="0"/>
              </a:rPr>
              <a:t>Higher population growth appears to be associated with lower life expectancy in several regions. Strong </a:t>
            </a:r>
            <a:r>
              <a:rPr lang="en-US" b="1" dirty="0">
                <a:latin typeface="LEKTON04-THIN" panose="02000506030000020003" pitchFamily="2" charset="0"/>
              </a:rPr>
              <a:t>regional differences</a:t>
            </a:r>
            <a:r>
              <a:rPr lang="en-US" dirty="0">
                <a:latin typeface="LEKTON04-THIN" panose="02000506030000020003" pitchFamily="2" charset="0"/>
              </a:rPr>
              <a:t> exist in economic, health, and environmental indicators.</a:t>
            </a:r>
            <a:endParaRPr lang="fa-IR" dirty="0">
              <a:latin typeface="LEKTON04-THIN" panose="02000506030000020003" pitchFamily="2" charset="0"/>
            </a:endParaRPr>
          </a:p>
          <a:p>
            <a:endParaRPr lang="fa-IR" dirty="0">
              <a:latin typeface="LEKTON04-THIN" panose="02000506030000020003" pitchFamily="2" charset="0"/>
            </a:endParaRPr>
          </a:p>
          <a:p>
            <a:r>
              <a:rPr lang="en-US" b="1" dirty="0">
                <a:latin typeface="LEKTON04-THIN" panose="02000506030000020003" pitchFamily="2" charset="0"/>
              </a:rPr>
              <a:t>Analysis Methods Used</a:t>
            </a:r>
          </a:p>
          <a:p>
            <a:endParaRPr lang="fa-IR" dirty="0">
              <a:latin typeface="LEKTON04-THIN" panose="02000506030000020003" pitchFamily="2" charset="0"/>
            </a:endParaRPr>
          </a:p>
          <a:p>
            <a:r>
              <a:rPr lang="en-US" dirty="0">
                <a:latin typeface="LEKTON04-THIN" panose="02000506030000020003" pitchFamily="2" charset="0"/>
              </a:rPr>
              <a:t>Descriptive statistics</a:t>
            </a:r>
          </a:p>
          <a:p>
            <a:r>
              <a:rPr lang="en-US" dirty="0">
                <a:latin typeface="LEKTON04-THIN" panose="02000506030000020003" pitchFamily="2" charset="0"/>
              </a:rPr>
              <a:t>Correlation analysis</a:t>
            </a:r>
          </a:p>
          <a:p>
            <a:r>
              <a:rPr lang="en-US" dirty="0">
                <a:latin typeface="LEKTON04-THIN" panose="02000506030000020003" pitchFamily="2" charset="0"/>
              </a:rPr>
              <a:t>Trend and comparative analysis</a:t>
            </a:r>
          </a:p>
          <a:p>
            <a:endParaRPr lang="en-US" dirty="0">
              <a:latin typeface="LEKTON04-THIN" panose="02000506030000020003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E8C58D-F6A3-900B-73FD-D85171014107}"/>
              </a:ext>
            </a:extLst>
          </p:cNvPr>
          <p:cNvSpPr txBox="1"/>
          <p:nvPr/>
        </p:nvSpPr>
        <p:spPr>
          <a:xfrm>
            <a:off x="6360215" y="1511808"/>
            <a:ext cx="278378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b="1" dirty="0">
              <a:latin typeface="LEKTON04-THIN" panose="02000506030000020003" pitchFamily="2" charset="0"/>
            </a:endParaRPr>
          </a:p>
          <a:p>
            <a:r>
              <a:rPr lang="en-US" sz="1200" b="1" dirty="0">
                <a:latin typeface="LEKTON04-THIN" panose="02000506030000020003" pitchFamily="2" charset="0"/>
              </a:rPr>
              <a:t>Economic Growth and Health Outcomes</a:t>
            </a:r>
            <a:endParaRPr lang="en-US" sz="1200" dirty="0">
              <a:latin typeface="LEKTON04-THIN" panose="02000506030000020003" pitchFamily="2" charset="0"/>
            </a:endParaRPr>
          </a:p>
          <a:p>
            <a:endParaRPr lang="en-US" sz="1200" b="1" dirty="0">
              <a:latin typeface="LEKTON04-THIN" panose="02000506030000020003" pitchFamily="2" charset="0"/>
            </a:endParaRPr>
          </a:p>
          <a:p>
            <a:r>
              <a:rPr lang="en-US" sz="1200" dirty="0">
                <a:latin typeface="LEKTON04-THIN" panose="02000506030000020003" pitchFamily="2" charset="0"/>
              </a:rPr>
              <a:t>This visualization shows the relationship between GDP per capita and life expectancy in 2019.</a:t>
            </a:r>
          </a:p>
          <a:p>
            <a:br>
              <a:rPr lang="en-US" sz="1200" dirty="0">
                <a:latin typeface="LEKTON04-THIN" panose="02000506030000020003" pitchFamily="2" charset="0"/>
              </a:rPr>
            </a:br>
            <a:r>
              <a:rPr lang="en-US" sz="1200" dirty="0">
                <a:latin typeface="LEKTON04-THIN" panose="02000506030000020003" pitchFamily="2" charset="0"/>
              </a:rPr>
              <a:t>A clear positive relationship emerges, although diminishing returns are observed at higher income levels.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386E10-E74F-215A-5065-15485EFA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97" y="426312"/>
            <a:ext cx="6133218" cy="4290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A95C80-320F-2B41-ECE7-7886AA9E6B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5" t="2266" r="9494" b="2027"/>
          <a:stretch/>
        </p:blipFill>
        <p:spPr>
          <a:xfrm>
            <a:off x="1663775" y="438912"/>
            <a:ext cx="5724577" cy="3962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11D164-6F39-8295-9FCC-C0B0A39EA485}"/>
              </a:ext>
            </a:extLst>
          </p:cNvPr>
          <p:cNvSpPr txBox="1"/>
          <p:nvPr/>
        </p:nvSpPr>
        <p:spPr>
          <a:xfrm>
            <a:off x="241160" y="4401177"/>
            <a:ext cx="9073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200" b="1" dirty="0"/>
          </a:p>
          <a:p>
            <a:r>
              <a:rPr lang="en-US" sz="1200" b="1" dirty="0">
                <a:latin typeface="LEKTON04-THIN" panose="02000506030000020003" pitchFamily="2" charset="0"/>
              </a:rPr>
              <a:t>These differences highlight the challenge of achieving economic growth while limiting environmental impact.</a:t>
            </a:r>
            <a:endParaRPr lang="en-US" sz="1200" dirty="0">
              <a:latin typeface="LEKTON04-THIN" panose="0200050603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71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1AFAE9-2B9B-F01A-3E0D-A27A38441587}"/>
              </a:ext>
            </a:extLst>
          </p:cNvPr>
          <p:cNvSpPr txBox="1"/>
          <p:nvPr/>
        </p:nvSpPr>
        <p:spPr>
          <a:xfrm>
            <a:off x="840259" y="1945671"/>
            <a:ext cx="6858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en-US" dirty="0">
                <a:latin typeface="LEKTON04-THIN" panose="02000506030000020003" pitchFamily="2" charset="0"/>
              </a:rPr>
              <a:t>While economic growth is associated with improved quality of life, it also generates significant environmental pressure.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These findings highlight the challenge of achieving sustainable development that balances prosperity, health, and environmental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27073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5"/>
            <a:ext cx="3288900" cy="4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it" b="1">
                <a:latin typeface="Titillium Web"/>
                <a:ea typeface="Titillium Web"/>
                <a:cs typeface="Titillium Web"/>
                <a:sym typeface="Titillium Web"/>
              </a:rPr>
              <a:t>LICENCE</a:t>
            </a:r>
            <a:endParaRPr b="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2" name="Google Shape;192;p36"/>
          <p:cNvSpPr txBox="1"/>
          <p:nvPr/>
        </p:nvSpPr>
        <p:spPr>
          <a:xfrm>
            <a:off x="4770000" y="860725"/>
            <a:ext cx="3780000" cy="63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Slides</a:t>
            </a:r>
            <a:r>
              <a:rPr lang="it" sz="1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are shared with the following license:</a:t>
            </a: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31B0-F229-90B3-13AD-245A1A11C8DC}"/>
              </a:ext>
            </a:extLst>
          </p:cNvPr>
          <p:cNvSpPr txBox="1"/>
          <p:nvPr/>
        </p:nvSpPr>
        <p:spPr>
          <a:xfrm>
            <a:off x="4572000" y="2094696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i="1" dirty="0">
                <a:latin typeface="LEKTON04-THIN" panose="02000506030000020003" pitchFamily="2" charset="0"/>
              </a:rPr>
              <a:t>The Cost of Progress</a:t>
            </a:r>
            <a:r>
              <a:rPr lang="en-US" dirty="0">
                <a:latin typeface="LEKTON04-THIN" panose="02000506030000020003" pitchFamily="2" charset="0"/>
              </a:rPr>
              <a:t> by </a:t>
            </a:r>
            <a:r>
              <a:rPr lang="en-US" i="1" dirty="0" err="1">
                <a:latin typeface="LEKTON04-THIN" panose="02000506030000020003" pitchFamily="2" charset="0"/>
              </a:rPr>
              <a:t>Hanieh</a:t>
            </a:r>
            <a:r>
              <a:rPr lang="en-US" i="1" dirty="0">
                <a:latin typeface="LEKTON04-THIN" panose="02000506030000020003" pitchFamily="2" charset="0"/>
              </a:rPr>
              <a:t> </a:t>
            </a:r>
            <a:r>
              <a:rPr lang="en-US" i="1" dirty="0" err="1">
                <a:latin typeface="LEKTON04-THIN" panose="02000506030000020003" pitchFamily="2" charset="0"/>
              </a:rPr>
              <a:t>Mirzad</a:t>
            </a:r>
            <a:br>
              <a:rPr lang="en-US" dirty="0">
                <a:latin typeface="LEKTON04-THIN" panose="02000506030000020003" pitchFamily="2" charset="0"/>
              </a:rPr>
            </a:br>
            <a:r>
              <a:rPr lang="en-US" dirty="0">
                <a:latin typeface="LEKTON04-THIN" panose="02000506030000020003" pitchFamily="2" charset="0"/>
              </a:rPr>
              <a:t>is licensed under </a:t>
            </a:r>
            <a:r>
              <a:rPr lang="en-US" b="1" dirty="0">
                <a:latin typeface="LEKTON04-THIN" panose="02000506030000020003" pitchFamily="2" charset="0"/>
              </a:rPr>
              <a:t>Creative Commons Attribution 4.0 International (CC BY 4.0)</a:t>
            </a:r>
            <a:endParaRPr lang="en-US" dirty="0">
              <a:latin typeface="LEKTON04-THIN" panose="020005060300000200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46EC5-AC57-9A8A-1B3A-621218CB9C3B}"/>
              </a:ext>
            </a:extLst>
          </p:cNvPr>
          <p:cNvSpPr txBox="1"/>
          <p:nvPr/>
        </p:nvSpPr>
        <p:spPr>
          <a:xfrm>
            <a:off x="4374000" y="341057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r>
              <a:rPr lang="en-US" dirty="0">
                <a:hlinkClick r:id="rId3"/>
              </a:rPr>
              <a:t>https://github.com/Haniehmzd/Data-Visualization.git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642</Words>
  <Application>Microsoft Macintosh PowerPoint</Application>
  <PresentationFormat>On-screen Show (16:9)</PresentationFormat>
  <Paragraphs>71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Lekton</vt:lpstr>
      <vt:lpstr>LEKTON04-THIN</vt:lpstr>
      <vt:lpstr>Titillium Web</vt:lpstr>
      <vt:lpstr>Arial</vt:lpstr>
      <vt:lpstr>Simple Light</vt:lpstr>
      <vt:lpstr>Data Visualization Pitch Student  Individual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Pitch Student  Individual Assignment</dc:title>
  <cp:lastModifiedBy>hani m</cp:lastModifiedBy>
  <cp:revision>11</cp:revision>
  <dcterms:modified xsi:type="dcterms:W3CDTF">2026-01-09T13:49:35Z</dcterms:modified>
</cp:coreProperties>
</file>